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2"/>
  </p:notesMasterIdLst>
  <p:sldIdLst>
    <p:sldId id="292" r:id="rId5"/>
    <p:sldId id="1291" r:id="rId6"/>
    <p:sldId id="1292" r:id="rId7"/>
    <p:sldId id="1294" r:id="rId8"/>
    <p:sldId id="1293" r:id="rId9"/>
    <p:sldId id="1296" r:id="rId10"/>
    <p:sldId id="1250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88" userDrawn="1">
          <p15:clr>
            <a:srgbClr val="A4A3A4"/>
          </p15:clr>
        </p15:guide>
        <p15:guide id="2" pos="144" userDrawn="1">
          <p15:clr>
            <a:srgbClr val="A4A3A4"/>
          </p15:clr>
        </p15:guide>
        <p15:guide id="3" orient="horz" pos="852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366"/>
    <a:srgbClr val="1A7C73"/>
    <a:srgbClr val="E8ECF8"/>
    <a:srgbClr val="EF6331"/>
    <a:srgbClr val="00717D"/>
    <a:srgbClr val="C9D2ED"/>
    <a:srgbClr val="851910"/>
    <a:srgbClr val="0000FF"/>
    <a:srgbClr val="FFCD8C"/>
    <a:srgbClr val="9F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432" y="120"/>
      </p:cViewPr>
      <p:guideLst>
        <p:guide orient="horz" pos="588"/>
        <p:guide pos="144"/>
        <p:guide orient="horz" pos="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69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82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12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323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2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fade/>
      </p:transition>
    </mc:Choice>
    <mc:Fallback xmlns=""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fade/>
      </p:transition>
    </mc:Choice>
    <mc:Fallback xmlns=""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BA23-5FDD-5D7E-F6FC-E4A6A7F5F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DBF0E-B651-D205-69BC-E38929484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EAFE9-FEB4-90FA-7604-E71268E9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57799B1-BD81-4C27-AC39-14752E0AA9C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42C0C-D784-7894-6E7A-A3163E7B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E244B-37C0-9DC6-22CD-EB660918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46D0F184-99CC-4BD8-B5C7-8D3F468855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1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fade/>
      </p:transition>
    </mc:Choice>
    <mc:Fallback xmlns="">
      <p:transition spd="slow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5">
            <a:lum/>
          </a:blip>
          <a:srcRect/>
          <a:stretch>
            <a:fillRect b="-6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8B4DC1-1FB6-97A3-9F51-B9358500E0A8}"/>
              </a:ext>
            </a:extLst>
          </p:cNvPr>
          <p:cNvSpPr/>
          <p:nvPr userDrawn="1"/>
        </p:nvSpPr>
        <p:spPr>
          <a:xfrm>
            <a:off x="0" y="454356"/>
            <a:ext cx="9144000" cy="45719"/>
          </a:xfrm>
          <a:prstGeom prst="rect">
            <a:avLst/>
          </a:prstGeom>
          <a:solidFill>
            <a:srgbClr val="EF6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B0C45-392E-206A-6503-A52CA087AB64}"/>
              </a:ext>
            </a:extLst>
          </p:cNvPr>
          <p:cNvSpPr/>
          <p:nvPr userDrawn="1"/>
        </p:nvSpPr>
        <p:spPr>
          <a:xfrm>
            <a:off x="0" y="2445"/>
            <a:ext cx="9144000" cy="467289"/>
          </a:xfrm>
          <a:prstGeom prst="rect">
            <a:avLst/>
          </a:prstGeom>
          <a:solidFill>
            <a:srgbClr val="E8EC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7717638" y="48027"/>
            <a:ext cx="1125129" cy="37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1E902BD-DE18-50F7-2A75-FEB6FA54A56F}"/>
              </a:ext>
            </a:extLst>
          </p:cNvPr>
          <p:cNvSpPr/>
          <p:nvPr userDrawn="1"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14" r:id="rId2"/>
    <p:sldLayoutId id="2147483715" r:id="rId3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fade/>
      </p:transition>
    </mc:Choice>
    <mc:Fallback xmlns="">
      <p:transition spd="slow" advClick="0" advTm="3000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5.sv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svg"/><Relationship Id="rId11" Type="http://schemas.openxmlformats.org/officeDocument/2006/relationships/image" Target="../media/image8.png"/><Relationship Id="rId5" Type="http://schemas.openxmlformats.org/officeDocument/2006/relationships/image" Target="../media/image3.jpeg"/><Relationship Id="rId10" Type="http://schemas.openxmlformats.org/officeDocument/2006/relationships/image" Target="../media/image7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7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9">
            <a:extLst>
              <a:ext uri="{FF2B5EF4-FFF2-40B4-BE49-F238E27FC236}">
                <a16:creationId xmlns:a16="http://schemas.microsoft.com/office/drawing/2014/main" id="{AE32C22C-3FDB-2396-2943-AFA12977BDA2}"/>
              </a:ext>
            </a:extLst>
          </p:cNvPr>
          <p:cNvGrpSpPr/>
          <p:nvPr/>
        </p:nvGrpSpPr>
        <p:grpSpPr>
          <a:xfrm>
            <a:off x="-1" y="27583"/>
            <a:ext cx="5514110" cy="429336"/>
            <a:chOff x="-138794" y="-155327"/>
            <a:chExt cx="1991689" cy="334248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DD5D5B45-D48F-CBC2-FAE6-3C32D4CA4A54}"/>
                </a:ext>
              </a:extLst>
            </p:cNvPr>
            <p:cNvSpPr/>
            <p:nvPr/>
          </p:nvSpPr>
          <p:spPr>
            <a:xfrm>
              <a:off x="-138794" y="-155327"/>
              <a:ext cx="1991689" cy="319716"/>
            </a:xfrm>
            <a:custGeom>
              <a:avLst/>
              <a:gdLst/>
              <a:ahLst/>
              <a:cxnLst/>
              <a:rect l="l" t="t" r="r" b="b"/>
              <a:pathLst>
                <a:path w="736235" h="178921">
                  <a:moveTo>
                    <a:pt x="0" y="0"/>
                  </a:moveTo>
                  <a:lnTo>
                    <a:pt x="736235" y="0"/>
                  </a:lnTo>
                  <a:lnTo>
                    <a:pt x="736235" y="178921"/>
                  </a:lnTo>
                  <a:lnTo>
                    <a:pt x="0" y="178921"/>
                  </a:lnTo>
                  <a:close/>
                </a:path>
              </a:pathLst>
            </a:custGeom>
            <a:solidFill>
              <a:srgbClr val="E8EC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D4602096-BB2A-D06A-F2F9-A1B85FB7B21D}"/>
                </a:ext>
              </a:extLst>
            </p:cNvPr>
            <p:cNvSpPr txBox="1"/>
            <p:nvPr/>
          </p:nvSpPr>
          <p:spPr>
            <a:xfrm>
              <a:off x="0" y="-66675"/>
              <a:ext cx="736235" cy="245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3">
            <a:extLst>
              <a:ext uri="{FF2B5EF4-FFF2-40B4-BE49-F238E27FC236}">
                <a16:creationId xmlns:a16="http://schemas.microsoft.com/office/drawing/2014/main" id="{E92715B5-E2D3-4776-93F0-B360B5A59553}"/>
              </a:ext>
            </a:extLst>
          </p:cNvPr>
          <p:cNvSpPr/>
          <p:nvPr/>
        </p:nvSpPr>
        <p:spPr>
          <a:xfrm>
            <a:off x="1783618" y="199"/>
            <a:ext cx="1032349" cy="451764"/>
          </a:xfrm>
          <a:custGeom>
            <a:avLst/>
            <a:gdLst/>
            <a:ahLst/>
            <a:cxnLst/>
            <a:rect l="l" t="t" r="r" b="b"/>
            <a:pathLst>
              <a:path w="2102123" h="919905">
                <a:moveTo>
                  <a:pt x="0" y="0"/>
                </a:moveTo>
                <a:lnTo>
                  <a:pt x="2102123" y="0"/>
                </a:lnTo>
                <a:lnTo>
                  <a:pt x="2102123" y="919905"/>
                </a:lnTo>
                <a:lnTo>
                  <a:pt x="0" y="91990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106728" r="-65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E93B0532-3834-38EB-306B-BB126F538A06}"/>
              </a:ext>
            </a:extLst>
          </p:cNvPr>
          <p:cNvSpPr/>
          <p:nvPr/>
        </p:nvSpPr>
        <p:spPr>
          <a:xfrm>
            <a:off x="23471" y="34728"/>
            <a:ext cx="603289" cy="417235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42FDAC4-AE27-C374-87FA-1488045722F0}"/>
              </a:ext>
            </a:extLst>
          </p:cNvPr>
          <p:cNvGrpSpPr/>
          <p:nvPr/>
        </p:nvGrpSpPr>
        <p:grpSpPr>
          <a:xfrm>
            <a:off x="463930" y="29785"/>
            <a:ext cx="3893325" cy="315464"/>
            <a:chOff x="1480354" y="1254982"/>
            <a:chExt cx="3584186" cy="47267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7602FD7-B850-30FC-6F11-B26765319CF5}"/>
                </a:ext>
              </a:extLst>
            </p:cNvPr>
            <p:cNvCxnSpPr>
              <a:cxnSpLocks/>
            </p:cNvCxnSpPr>
            <p:nvPr/>
          </p:nvCxnSpPr>
          <p:spPr>
            <a:xfrm>
              <a:off x="3969406" y="1316016"/>
              <a:ext cx="0" cy="41164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9" name="Google Shape;110;p4" descr="A close up of a sign&#10;&#10;Description automatically generated">
              <a:extLst>
                <a:ext uri="{FF2B5EF4-FFF2-40B4-BE49-F238E27FC236}">
                  <a16:creationId xmlns:a16="http://schemas.microsoft.com/office/drawing/2014/main" id="{321F3B6E-D5C9-7BFA-7BDB-50FF890BB654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110313" y="1375390"/>
              <a:ext cx="954227" cy="352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97570DF-6F54-74D9-731F-612CF788DA56}"/>
                </a:ext>
              </a:extLst>
            </p:cNvPr>
            <p:cNvPicPr/>
            <p:nvPr/>
          </p:nvPicPr>
          <p:blipFill>
            <a:blip r:embed="rId9"/>
            <a:stretch/>
          </p:blipFill>
          <p:spPr>
            <a:xfrm>
              <a:off x="1480354" y="1342660"/>
              <a:ext cx="994614" cy="256080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2C4709E-5DC8-3087-4DFF-5FD21D1AA1BA}"/>
                </a:ext>
              </a:extLst>
            </p:cNvPr>
            <p:cNvCxnSpPr>
              <a:cxnSpLocks/>
            </p:cNvCxnSpPr>
            <p:nvPr/>
          </p:nvCxnSpPr>
          <p:spPr>
            <a:xfrm>
              <a:off x="2615873" y="1316016"/>
              <a:ext cx="0" cy="41164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2" name="Picture 51" descr="A logo with tools in a circle&#10;&#10;Description automatically generated">
              <a:extLst>
                <a:ext uri="{FF2B5EF4-FFF2-40B4-BE49-F238E27FC236}">
                  <a16:creationId xmlns:a16="http://schemas.microsoft.com/office/drawing/2014/main" id="{D5514759-EB9F-E36E-1FFF-E3E7F1E44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970010" y="1254982"/>
              <a:ext cx="556735" cy="468844"/>
            </a:xfrm>
            <a:prstGeom prst="rect">
              <a:avLst/>
            </a:prstGeom>
          </p:spPr>
        </p:pic>
      </p:grpSp>
      <p:pic>
        <p:nvPicPr>
          <p:cNvPr id="32" name="ytmp3free.cc_modern-corporate-business-background-music-presentation-music-instrumental-music4video-youtubemp3free.org">
            <a:hlinkClick r:id="" action="ppaction://media"/>
            <a:extLst>
              <a:ext uri="{FF2B5EF4-FFF2-40B4-BE49-F238E27FC236}">
                <a16:creationId xmlns:a16="http://schemas.microsoft.com/office/drawing/2014/main" id="{559A5392-FE72-7AD2-EC1A-AAD16A465B6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0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839200" y="4755572"/>
            <a:ext cx="304800" cy="3048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9DBA615-A0D8-86F2-253B-0CD34D8ADAEC}"/>
              </a:ext>
            </a:extLst>
          </p:cNvPr>
          <p:cNvSpPr/>
          <p:nvPr/>
        </p:nvSpPr>
        <p:spPr>
          <a:xfrm>
            <a:off x="540327" y="1392381"/>
            <a:ext cx="235527" cy="42949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71B81D-F22A-CB09-3580-EAD1A3FF8C1C}"/>
              </a:ext>
            </a:extLst>
          </p:cNvPr>
          <p:cNvSpPr/>
          <p:nvPr/>
        </p:nvSpPr>
        <p:spPr>
          <a:xfrm>
            <a:off x="214745" y="1336964"/>
            <a:ext cx="346363" cy="58189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07D626-40C1-13BD-D857-CC2A05F25215}"/>
              </a:ext>
            </a:extLst>
          </p:cNvPr>
          <p:cNvSpPr/>
          <p:nvPr/>
        </p:nvSpPr>
        <p:spPr>
          <a:xfrm>
            <a:off x="425869" y="1136211"/>
            <a:ext cx="346363" cy="83099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800" b="1" dirty="0">
                <a:ln w="0"/>
                <a:solidFill>
                  <a:srgbClr val="22336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S</a:t>
            </a:r>
            <a:endParaRPr lang="en-US" sz="4800" b="1" cap="none" spc="0" dirty="0">
              <a:ln>
                <a:solidFill>
                  <a:schemeClr val="bg1"/>
                </a:solidFill>
              </a:ln>
              <a:solidFill>
                <a:srgbClr val="223366"/>
              </a:solidFill>
              <a:effectLst/>
              <a:latin typeface="Arial Narrow" panose="020B0606020202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fade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999" showWhenStopped="0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7000"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9BD2EF-E776-45B2-E9C7-034874DEA592}"/>
              </a:ext>
            </a:extLst>
          </p:cNvPr>
          <p:cNvSpPr txBox="1"/>
          <p:nvPr/>
        </p:nvSpPr>
        <p:spPr>
          <a:xfrm>
            <a:off x="458670" y="1394460"/>
            <a:ext cx="6323130" cy="2964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Collecting household information manually is time-consuming and difficult to manage.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It is difficult to track basic facilities such as electricity, water, and toilets.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Information about internet, smartphones, banking, and UPI usage needs proper analysis.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Comparing education, occupation, and monthly income across households can be difficult without organized data.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Village development data can be difficult to understand and compare when it is stored in raw or unorganized form.</a:t>
            </a:r>
          </a:p>
        </p:txBody>
      </p:sp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fade/>
      </p:transition>
    </mc:Choice>
    <mc:Fallback xmlns="">
      <p:transition spd="slow" advClick="0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9000" b="-9000"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34;p23">
            <a:extLst>
              <a:ext uri="{FF2B5EF4-FFF2-40B4-BE49-F238E27FC236}">
                <a16:creationId xmlns:a16="http://schemas.microsoft.com/office/drawing/2014/main" id="{65A026A1-4157-D47A-7261-C367C2DC72CF}"/>
              </a:ext>
            </a:extLst>
          </p:cNvPr>
          <p:cNvSpPr txBox="1"/>
          <p:nvPr/>
        </p:nvSpPr>
        <p:spPr>
          <a:xfrm>
            <a:off x="418713" y="1496791"/>
            <a:ext cx="6654033" cy="292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Use an Excel database to store and organize all household information in one place. 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Create separate columns for each facility and use formulas to calculate their availability.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Use Excel functions like COUNTIF and percentage calculations to analyze digital facility usage.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Use sorting, filtering, formulas, and PivotTables to compare and summarize household information.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Use charts, conditional formatting, and a dashboard to present the information clearly and identify areas that need improvement.</a:t>
            </a:r>
          </a:p>
        </p:txBody>
      </p:sp>
    </p:spTree>
    <p:extLst>
      <p:ext uri="{BB962C8B-B14F-4D97-AF65-F5344CB8AC3E}">
        <p14:creationId xmlns:p14="http://schemas.microsoft.com/office/powerpoint/2010/main" val="2975191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fade/>
      </p:transition>
    </mc:Choice>
    <mc:Fallback xmlns="">
      <p:transition spd="slow" advClick="0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8000"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84B76A-7D3A-3F23-B0E2-424EC2E806C4}"/>
              </a:ext>
            </a:extLst>
          </p:cNvPr>
          <p:cNvSpPr txBox="1"/>
          <p:nvPr/>
        </p:nvSpPr>
        <p:spPr>
          <a:xfrm>
            <a:off x="3824645" y="4835723"/>
            <a:ext cx="2256115" cy="30777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GitHub Link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3F1A04-E70C-760A-2CD3-F05E7C4AEF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9" t="21222" r="1240" b="30681"/>
          <a:stretch>
            <a:fillRect/>
          </a:stretch>
        </p:blipFill>
        <p:spPr>
          <a:xfrm>
            <a:off x="102781" y="1219686"/>
            <a:ext cx="8938437" cy="361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3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fade/>
      </p:transition>
    </mc:Choice>
    <mc:Fallback xmlns="">
      <p:transition spd="slow" advClick="0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8000" b="-2000"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57335198-79A6-CAA5-2CC6-0BB009B8F43A}"/>
              </a:ext>
            </a:extLst>
          </p:cNvPr>
          <p:cNvSpPr txBox="1"/>
          <p:nvPr/>
        </p:nvSpPr>
        <p:spPr>
          <a:xfrm>
            <a:off x="260763" y="1508760"/>
            <a:ext cx="6627717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Tx/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chemeClr val="tx1"/>
                </a:solidFill>
                <a:latin typeface="Book Antiqua" panose="02040602050305030304" pitchFamily="18" charset="0"/>
              </a:rPr>
              <a:t>Digital Village Dashboard – The system can be converted into an interactive dashboard for real-time village data analysis.</a:t>
            </a:r>
          </a:p>
          <a:p>
            <a:pPr marL="285750" indent="-285750">
              <a:buClrTx/>
              <a:buFont typeface="Wingdings" panose="05000000000000000000" pitchFamily="2" charset="2"/>
              <a:buChar char="q"/>
            </a:pPr>
            <a:endParaRPr lang="en-US" sz="12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chemeClr val="tx1"/>
                </a:solidFill>
                <a:latin typeface="Book Antiqua" panose="02040602050305030304" pitchFamily="18" charset="0"/>
              </a:rPr>
              <a:t>Mobile Data Collection – A mobile application can be developed to collect household survey data directly from the field.</a:t>
            </a:r>
          </a:p>
          <a:p>
            <a:pPr marL="285750" indent="-285750">
              <a:buClrTx/>
              <a:buFont typeface="Wingdings" panose="05000000000000000000" pitchFamily="2" charset="2"/>
              <a:buChar char="q"/>
            </a:pPr>
            <a:endParaRPr lang="en-US" sz="12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chemeClr val="tx1"/>
                </a:solidFill>
                <a:latin typeface="Book Antiqua" panose="02040602050305030304" pitchFamily="18" charset="0"/>
              </a:rPr>
              <a:t>Government Scheme Tracking – Future versions can include information about government schemes and their coverage among households.</a:t>
            </a:r>
          </a:p>
          <a:p>
            <a:pPr marL="285750" indent="-285750">
              <a:buClrTx/>
              <a:buFont typeface="Wingdings" panose="05000000000000000000" pitchFamily="2" charset="2"/>
              <a:buChar char="q"/>
            </a:pPr>
            <a:endParaRPr lang="en-US" sz="12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chemeClr val="tx1"/>
                </a:solidFill>
                <a:latin typeface="Book Antiqua" panose="02040602050305030304" pitchFamily="18" charset="0"/>
              </a:rPr>
              <a:t>Data-Based Development Planning – The collected data can help identify areas that need improvement, such as internet, water, sanitation, or digital services.</a:t>
            </a:r>
          </a:p>
          <a:p>
            <a:pPr marL="285750" indent="-285750">
              <a:buClrTx/>
              <a:buFont typeface="Wingdings" panose="05000000000000000000" pitchFamily="2" charset="2"/>
              <a:buChar char="q"/>
            </a:pPr>
            <a:endParaRPr lang="en-US" sz="12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pPr marL="285750" indent="-285750">
              <a:buClrTx/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chemeClr val="tx1"/>
                </a:solidFill>
                <a:latin typeface="Book Antiqua" panose="02040602050305030304" pitchFamily="18" charset="0"/>
              </a:rPr>
              <a:t>AI-Based Analysis – In the future, AI can be used to analyze survey data and provide development insights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62120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fade/>
      </p:transition>
    </mc:Choice>
    <mc:Fallback xmlns="">
      <p:transition spd="slow" advClick="0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6000"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F656EEBA-FCC6-FE6F-EAF7-837658983D56}"/>
              </a:ext>
            </a:extLst>
          </p:cNvPr>
          <p:cNvSpPr txBox="1"/>
          <p:nvPr/>
        </p:nvSpPr>
        <p:spPr>
          <a:xfrm>
            <a:off x="396076" y="1341120"/>
            <a:ext cx="6225704" cy="256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This project helped us collect and organize household data in a systematic way. By analyzing education, occupation, income, electricity, internet, banking, UPI, water, and sanitation facilities, we gained useful insights into village development.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endParaRPr lang="en-US" b="1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Using Excel formulas, sorting, filtering, charts, and PivotTables made the data easier to understand and compare. Overall, this project shows how data and technology can support better decision-making and contribute to smart and sustainable village development.</a:t>
            </a:r>
            <a:endParaRPr lang="en-US" sz="18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76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fade/>
      </p:transition>
    </mc:Choice>
    <mc:Fallback xmlns="">
      <p:transition spd="slow" advClick="0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fade/>
      </p:transition>
    </mc:Choice>
    <mc:Fallback xmlns="">
      <p:transition spd="slow" advClick="0" advTm="3000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559A34-456E-49A1-8157-9E3D18BFAD36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c0fa2617-96bd-425d-8578-e93563fe37c5"/>
    <ds:schemaRef ds:uri="9162bd5b-4ed9-4da3-b376-05204580ba3f"/>
  </ds:schemaRefs>
</ds:datastoreItem>
</file>

<file path=customXml/itemProps3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</TotalTime>
  <Words>359</Words>
  <Application>Microsoft Office PowerPoint</Application>
  <PresentationFormat>On-screen Show (16:9)</PresentationFormat>
  <Paragraphs>26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Narrow</vt:lpstr>
      <vt:lpstr>Book Antiqua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Nirupama Dwivedi</cp:lastModifiedBy>
  <cp:revision>33</cp:revision>
  <dcterms:modified xsi:type="dcterms:W3CDTF">2026-09-24T03:37:49Z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